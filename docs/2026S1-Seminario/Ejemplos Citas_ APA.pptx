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8" r:id="rId2"/>
    <p:sldId id="265" r:id="rId3"/>
    <p:sldId id="290" r:id="rId4"/>
  </p:sldIdLst>
  <p:sldSz cx="9144000" cy="6858000" type="letter"/>
  <p:notesSz cx="6858000" cy="9144000"/>
  <p:custDataLst>
    <p:tags r:id="rId6"/>
  </p:custData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9DC2"/>
    <a:srgbClr val="98BDE3"/>
    <a:srgbClr val="DDFFFF"/>
    <a:srgbClr val="0563C1"/>
    <a:srgbClr val="0099CC"/>
    <a:srgbClr val="2E75B6"/>
    <a:srgbClr val="D5F2F9"/>
    <a:srgbClr val="33CCCC"/>
    <a:srgbClr val="E90000"/>
    <a:srgbClr val="8A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56" autoAdjust="0"/>
    <p:restoredTop sz="93636" autoAdjust="0"/>
  </p:normalViewPr>
  <p:slideViewPr>
    <p:cSldViewPr snapToGrid="0" snapToObjects="1">
      <p:cViewPr varScale="1">
        <p:scale>
          <a:sx n="112" d="100"/>
          <a:sy n="112" d="100"/>
        </p:scale>
        <p:origin x="12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Alvarez Sánchez" userId="afe9f19f-9ff4-43ef-8fd0-4d0b01704fbb" providerId="ADAL" clId="{EDE5F2C3-EFF7-48EB-8B43-A5D322B7AA0D}"/>
    <pc:docChg chg="delSld modSld">
      <pc:chgData name="Susana Alvarez Sánchez" userId="afe9f19f-9ff4-43ef-8fd0-4d0b01704fbb" providerId="ADAL" clId="{EDE5F2C3-EFF7-48EB-8B43-A5D322B7AA0D}" dt="2022-08-24T19:27:51.768" v="71" actId="20577"/>
      <pc:docMkLst>
        <pc:docMk/>
      </pc:docMkLst>
      <pc:sldChg chg="del">
        <pc:chgData name="Susana Alvarez Sánchez" userId="afe9f19f-9ff4-43ef-8fd0-4d0b01704fbb" providerId="ADAL" clId="{EDE5F2C3-EFF7-48EB-8B43-A5D322B7AA0D}" dt="2022-08-24T19:25:14.515" v="0" actId="2696"/>
        <pc:sldMkLst>
          <pc:docMk/>
          <pc:sldMk cId="899731383" sldId="263"/>
        </pc:sldMkLst>
      </pc:sldChg>
      <pc:sldChg chg="del">
        <pc:chgData name="Susana Alvarez Sánchez" userId="afe9f19f-9ff4-43ef-8fd0-4d0b01704fbb" providerId="ADAL" clId="{EDE5F2C3-EFF7-48EB-8B43-A5D322B7AA0D}" dt="2022-08-24T19:25:14.515" v="0" actId="2696"/>
        <pc:sldMkLst>
          <pc:docMk/>
          <pc:sldMk cId="1347514964" sldId="272"/>
        </pc:sldMkLst>
      </pc:sldChg>
      <pc:sldChg chg="del">
        <pc:chgData name="Susana Alvarez Sánchez" userId="afe9f19f-9ff4-43ef-8fd0-4d0b01704fbb" providerId="ADAL" clId="{EDE5F2C3-EFF7-48EB-8B43-A5D322B7AA0D}" dt="2022-08-24T19:25:14.515" v="0" actId="2696"/>
        <pc:sldMkLst>
          <pc:docMk/>
          <pc:sldMk cId="1570439075" sldId="273"/>
        </pc:sldMkLst>
      </pc:sldChg>
      <pc:sldChg chg="del">
        <pc:chgData name="Susana Alvarez Sánchez" userId="afe9f19f-9ff4-43ef-8fd0-4d0b01704fbb" providerId="ADAL" clId="{EDE5F2C3-EFF7-48EB-8B43-A5D322B7AA0D}" dt="2022-08-24T19:25:14.515" v="0" actId="2696"/>
        <pc:sldMkLst>
          <pc:docMk/>
          <pc:sldMk cId="1969417107" sldId="274"/>
        </pc:sldMkLst>
      </pc:sldChg>
      <pc:sldChg chg="del">
        <pc:chgData name="Susana Alvarez Sánchez" userId="afe9f19f-9ff4-43ef-8fd0-4d0b01704fbb" providerId="ADAL" clId="{EDE5F2C3-EFF7-48EB-8B43-A5D322B7AA0D}" dt="2022-08-24T19:25:14.515" v="0" actId="2696"/>
        <pc:sldMkLst>
          <pc:docMk/>
          <pc:sldMk cId="397875342" sldId="275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544960377" sldId="285"/>
        </pc:sldMkLst>
      </pc:sldChg>
      <pc:sldChg chg="modSp mod">
        <pc:chgData name="Susana Alvarez Sánchez" userId="afe9f19f-9ff4-43ef-8fd0-4d0b01704fbb" providerId="ADAL" clId="{EDE5F2C3-EFF7-48EB-8B43-A5D322B7AA0D}" dt="2022-08-24T19:27:51.768" v="71" actId="20577"/>
        <pc:sldMkLst>
          <pc:docMk/>
          <pc:sldMk cId="1516816876" sldId="290"/>
        </pc:sldMkLst>
        <pc:spChg chg="mod">
          <ac:chgData name="Susana Alvarez Sánchez" userId="afe9f19f-9ff4-43ef-8fd0-4d0b01704fbb" providerId="ADAL" clId="{EDE5F2C3-EFF7-48EB-8B43-A5D322B7AA0D}" dt="2022-08-24T19:27:38.425" v="67" actId="14100"/>
          <ac:spMkLst>
            <pc:docMk/>
            <pc:sldMk cId="1516816876" sldId="290"/>
            <ac:spMk id="6" creationId="{6C349A83-6CC7-4D5C-8669-96C825BCF78C}"/>
          </ac:spMkLst>
        </pc:spChg>
        <pc:spChg chg="mod">
          <ac:chgData name="Susana Alvarez Sánchez" userId="afe9f19f-9ff4-43ef-8fd0-4d0b01704fbb" providerId="ADAL" clId="{EDE5F2C3-EFF7-48EB-8B43-A5D322B7AA0D}" dt="2022-08-24T19:27:51.768" v="71" actId="20577"/>
          <ac:spMkLst>
            <pc:docMk/>
            <pc:sldMk cId="1516816876" sldId="290"/>
            <ac:spMk id="13" creationId="{B5840332-6238-40A3-9015-706ACB9FCE02}"/>
          </ac:spMkLst>
        </pc:spChg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3864641853" sldId="294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367751863" sldId="295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445722670" sldId="297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3289909733" sldId="299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539107957" sldId="300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175447490" sldId="312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640499494" sldId="318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819840423" sldId="324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838117840" sldId="335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3133909451" sldId="337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3314506205" sldId="338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83785075" sldId="339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281647438" sldId="340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523029972" sldId="341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526526370" sldId="342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058731829" sldId="343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2382752062" sldId="346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4062532962" sldId="360"/>
        </pc:sldMkLst>
      </pc:sldChg>
      <pc:sldChg chg="del">
        <pc:chgData name="Susana Alvarez Sánchez" userId="afe9f19f-9ff4-43ef-8fd0-4d0b01704fbb" providerId="ADAL" clId="{EDE5F2C3-EFF7-48EB-8B43-A5D322B7AA0D}" dt="2022-08-24T19:25:34.336" v="1" actId="2696"/>
        <pc:sldMkLst>
          <pc:docMk/>
          <pc:sldMk cId="1300609727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1DF33-B9A6-49D7-803E-3F5CEA63D07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786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1DF33-B9A6-49D7-803E-3F5CEA63D075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878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24/08/2022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CA977B-B02E-4716-855D-583C5395D9E4}"/>
              </a:ext>
            </a:extLst>
          </p:cNvPr>
          <p:cNvSpPr txBox="1"/>
          <p:nvPr/>
        </p:nvSpPr>
        <p:spPr>
          <a:xfrm>
            <a:off x="2430064" y="93912"/>
            <a:ext cx="3898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CITA DIRECTA O TEXTUAL</a:t>
            </a:r>
          </a:p>
        </p:txBody>
      </p:sp>
      <p:grpSp>
        <p:nvGrpSpPr>
          <p:cNvPr id="10" name="CITA CORTA">
            <a:extLst>
              <a:ext uri="{FF2B5EF4-FFF2-40B4-BE49-F238E27FC236}">
                <a16:creationId xmlns:a16="http://schemas.microsoft.com/office/drawing/2014/main" id="{D28D94CA-1D8C-4EFB-8C6E-5CEF10E75493}"/>
              </a:ext>
            </a:extLst>
          </p:cNvPr>
          <p:cNvGrpSpPr/>
          <p:nvPr/>
        </p:nvGrpSpPr>
        <p:grpSpPr>
          <a:xfrm>
            <a:off x="1530408" y="1233755"/>
            <a:ext cx="1123607" cy="1332281"/>
            <a:chOff x="1038224" y="1578679"/>
            <a:chExt cx="1876425" cy="2321808"/>
          </a:xfrm>
        </p:grpSpPr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1A6427EB-B7C6-4DA8-ADE0-E254CAD960E9}"/>
                </a:ext>
              </a:extLst>
            </p:cNvPr>
            <p:cNvSpPr/>
            <p:nvPr/>
          </p:nvSpPr>
          <p:spPr>
            <a:xfrm>
              <a:off x="1038224" y="1578679"/>
              <a:ext cx="1876425" cy="1800225"/>
            </a:xfrm>
            <a:prstGeom prst="flowChartConnector">
              <a:avLst/>
            </a:prstGeom>
            <a:solidFill>
              <a:schemeClr val="bg1"/>
            </a:solidFill>
            <a:ln w="1270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  <p:pic>
          <p:nvPicPr>
            <p:cNvPr id="7" name="Gráfico 6" descr="Abrir comillas con relleno sólido">
              <a:extLst>
                <a:ext uri="{FF2B5EF4-FFF2-40B4-BE49-F238E27FC236}">
                  <a16:creationId xmlns:a16="http://schemas.microsoft.com/office/drawing/2014/main" id="{0CBC47A4-0D91-4797-89B6-0C70D9EF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76350" y="1900237"/>
              <a:ext cx="1400175" cy="1257300"/>
            </a:xfrm>
            <a:prstGeom prst="rect">
              <a:avLst/>
            </a:prstGeom>
          </p:spPr>
        </p:pic>
        <p:sp>
          <p:nvSpPr>
            <p:cNvPr id="8" name="Diagrama de flujo: conector 7">
              <a:extLst>
                <a:ext uri="{FF2B5EF4-FFF2-40B4-BE49-F238E27FC236}">
                  <a16:creationId xmlns:a16="http://schemas.microsoft.com/office/drawing/2014/main" id="{1FC7BDD9-85DF-480B-B03D-958E041FA807}"/>
                </a:ext>
              </a:extLst>
            </p:cNvPr>
            <p:cNvSpPr/>
            <p:nvPr/>
          </p:nvSpPr>
          <p:spPr>
            <a:xfrm>
              <a:off x="1890712" y="3738562"/>
              <a:ext cx="171450" cy="161925"/>
            </a:xfrm>
            <a:prstGeom prst="flowChartConnector">
              <a:avLst/>
            </a:prstGeom>
            <a:solidFill>
              <a:srgbClr val="98BD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E483BDF-E0CD-4554-A037-842BEDDD12CD}"/>
              </a:ext>
            </a:extLst>
          </p:cNvPr>
          <p:cNvSpPr txBox="1"/>
          <p:nvPr/>
        </p:nvSpPr>
        <p:spPr>
          <a:xfrm>
            <a:off x="180649" y="2545436"/>
            <a:ext cx="41044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s-CL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CL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 CORTA</a:t>
            </a:r>
          </a:p>
          <a:p>
            <a:pPr algn="just"/>
            <a:endParaRPr lang="es-CL" sz="1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_tradnl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Contiene menos de 40 palabras.</a:t>
            </a:r>
          </a:p>
          <a:p>
            <a:pPr algn="just"/>
            <a:r>
              <a:rPr lang="es-ES_tradnl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escriben en el texto entre comillas e indicando siempre entre paréntesis el apellido del </a:t>
            </a:r>
            <a:r>
              <a:rPr lang="es-ES_tradnl" sz="1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autor, año y página específica de la cita</a:t>
            </a:r>
            <a:r>
              <a:rPr lang="es-ES_tradnl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(APA, 2010).</a:t>
            </a:r>
            <a:endParaRPr lang="es-CL" sz="1400" b="1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400" b="1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algn="ctr"/>
            <a:endParaRPr lang="es-CL" sz="1400" b="1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“Al tener dificultades en el manejo de tecnologías encuentran irrelevante la educación a distancia” (Mendoza, 2020, p. 8).</a:t>
            </a:r>
            <a:endParaRPr lang="es-CL" sz="1400" b="1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CITA LARGA">
            <a:extLst>
              <a:ext uri="{FF2B5EF4-FFF2-40B4-BE49-F238E27FC236}">
                <a16:creationId xmlns:a16="http://schemas.microsoft.com/office/drawing/2014/main" id="{95C0B7C9-6DE1-47D9-92FB-0DEAA2085E40}"/>
              </a:ext>
            </a:extLst>
          </p:cNvPr>
          <p:cNvGrpSpPr/>
          <p:nvPr/>
        </p:nvGrpSpPr>
        <p:grpSpPr>
          <a:xfrm>
            <a:off x="6322987" y="1244983"/>
            <a:ext cx="1060012" cy="1274596"/>
            <a:chOff x="1038224" y="1578679"/>
            <a:chExt cx="1876425" cy="2336612"/>
          </a:xfrm>
        </p:grpSpPr>
        <p:sp>
          <p:nvSpPr>
            <p:cNvPr id="12" name="Diagrama de flujo: conector 11">
              <a:extLst>
                <a:ext uri="{FF2B5EF4-FFF2-40B4-BE49-F238E27FC236}">
                  <a16:creationId xmlns:a16="http://schemas.microsoft.com/office/drawing/2014/main" id="{8DD89E58-3E47-41D5-A3D4-84DA3DD15C97}"/>
                </a:ext>
              </a:extLst>
            </p:cNvPr>
            <p:cNvSpPr/>
            <p:nvPr/>
          </p:nvSpPr>
          <p:spPr>
            <a:xfrm>
              <a:off x="1038224" y="1578679"/>
              <a:ext cx="1876425" cy="1800225"/>
            </a:xfrm>
            <a:prstGeom prst="flowChartConnector">
              <a:avLst/>
            </a:prstGeom>
            <a:solidFill>
              <a:schemeClr val="bg1"/>
            </a:solidFill>
            <a:ln w="1270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  <p:pic>
          <p:nvPicPr>
            <p:cNvPr id="13" name="Gráfico 12" descr="Abrir comillas con relleno sólido">
              <a:extLst>
                <a:ext uri="{FF2B5EF4-FFF2-40B4-BE49-F238E27FC236}">
                  <a16:creationId xmlns:a16="http://schemas.microsoft.com/office/drawing/2014/main" id="{6C06E69F-9FAF-433A-9B59-3907B246B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1276348" y="1891116"/>
              <a:ext cx="1490661" cy="1338553"/>
            </a:xfrm>
            <a:prstGeom prst="rect">
              <a:avLst/>
            </a:prstGeom>
          </p:spPr>
        </p:pic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C3BE8C74-EC72-47B5-ACB2-FBB1F00DB458}"/>
                </a:ext>
              </a:extLst>
            </p:cNvPr>
            <p:cNvSpPr/>
            <p:nvPr/>
          </p:nvSpPr>
          <p:spPr>
            <a:xfrm>
              <a:off x="1850228" y="3753366"/>
              <a:ext cx="171450" cy="161925"/>
            </a:xfrm>
            <a:prstGeom prst="flowChartConnector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D189AD-98F3-4B94-BA74-9DF33AE6011C}"/>
              </a:ext>
            </a:extLst>
          </p:cNvPr>
          <p:cNvSpPr txBox="1"/>
          <p:nvPr/>
        </p:nvSpPr>
        <p:spPr>
          <a:xfrm>
            <a:off x="4429732" y="2500619"/>
            <a:ext cx="46587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CITA LARGA</a:t>
            </a:r>
          </a:p>
          <a:p>
            <a:pPr algn="ctr"/>
            <a:endParaRPr lang="es-CL" sz="1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Contiene 40 o más palabras y es desplegada en forma de bloque independiente en el texto, dejando una </a:t>
            </a: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sangría de 1.27 cm</a:t>
            </a: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. Se omiten las comillas.</a:t>
            </a:r>
          </a:p>
          <a:p>
            <a:pPr algn="ctr"/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</p:txBody>
      </p:sp>
      <p:sp>
        <p:nvSpPr>
          <p:cNvPr id="16" name="Rectángulo: esquinas redondeadas 15">
            <a:hlinkClick r:id="" action="ppaction://noaction"/>
            <a:extLst>
              <a:ext uri="{FF2B5EF4-FFF2-40B4-BE49-F238E27FC236}">
                <a16:creationId xmlns:a16="http://schemas.microsoft.com/office/drawing/2014/main" id="{2D8091CA-4A67-40CE-916C-CDA4FDF5E3BB}"/>
              </a:ext>
            </a:extLst>
          </p:cNvPr>
          <p:cNvSpPr/>
          <p:nvPr/>
        </p:nvSpPr>
        <p:spPr>
          <a:xfrm>
            <a:off x="8110899" y="6634972"/>
            <a:ext cx="804015" cy="2230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 dirty="0">
                <a:latin typeface="Arial Black" panose="020B0A04020102020204" pitchFamily="34" charset="0"/>
              </a:rPr>
              <a:t>Siguiente</a:t>
            </a:r>
            <a:endParaRPr lang="es-CL" sz="900" b="1" dirty="0">
              <a:latin typeface="Arial Black" panose="020B0A040201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B7509E6-C541-43B8-A9DF-754E15A3CD6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8512907" y="108766"/>
            <a:ext cx="631093" cy="388259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9EB912E-21D4-43B2-9560-4C80228F8A16}"/>
              </a:ext>
            </a:extLst>
          </p:cNvPr>
          <p:cNvSpPr/>
          <p:nvPr/>
        </p:nvSpPr>
        <p:spPr>
          <a:xfrm>
            <a:off x="4361858" y="2286432"/>
            <a:ext cx="45719" cy="41623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8BDE3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A2FD6E-0224-4640-B30B-5199835BCAFF}"/>
              </a:ext>
            </a:extLst>
          </p:cNvPr>
          <p:cNvSpPr txBox="1"/>
          <p:nvPr/>
        </p:nvSpPr>
        <p:spPr>
          <a:xfrm>
            <a:off x="171883" y="494022"/>
            <a:ext cx="8800234" cy="5232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se extrae de un documento, una idea o frase expresada por el autor(es)  y ésta se transcribe exactamente igual, en un trabajo de investigación o académico.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8CC5325-F608-465D-8F2E-EE8E60986A9B}"/>
              </a:ext>
            </a:extLst>
          </p:cNvPr>
          <p:cNvSpPr txBox="1"/>
          <p:nvPr/>
        </p:nvSpPr>
        <p:spPr>
          <a:xfrm>
            <a:off x="4429732" y="4003680"/>
            <a:ext cx="4658761" cy="2148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Otros estudios sobre el aprendizaje refieren que:</a:t>
            </a:r>
          </a:p>
          <a:p>
            <a:pPr lvl="1" algn="just">
              <a:spcAft>
                <a:spcPts val="800"/>
              </a:spcAft>
            </a:pPr>
            <a:r>
              <a:rPr lang="es-CL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aprendizaje mediante WhatsApp ofrece múltiples ventajas para la relación entre el tutor y sus alumnos en cuanto a inmediatez, la flexibilidad de horarios, diversidad de recursos, la posibilidad de colaborar e intercambiar experiencias, académicas y personales. Estas relaciones de cooperación propiciaron el éxito durante el proceso de aprendizaje (Colmenares et al., 2022, p. 8).</a:t>
            </a:r>
          </a:p>
        </p:txBody>
      </p:sp>
    </p:spTree>
    <p:extLst>
      <p:ext uri="{BB962C8B-B14F-4D97-AF65-F5344CB8AC3E}">
        <p14:creationId xmlns:p14="http://schemas.microsoft.com/office/powerpoint/2010/main" val="108574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2CA977B-B02E-4716-855D-583C5395D9E4}"/>
              </a:ext>
            </a:extLst>
          </p:cNvPr>
          <p:cNvSpPr txBox="1"/>
          <p:nvPr/>
        </p:nvSpPr>
        <p:spPr>
          <a:xfrm>
            <a:off x="1988255" y="179736"/>
            <a:ext cx="5167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CITA INDIRECTA O  PARÁFRASIS</a:t>
            </a:r>
          </a:p>
        </p:txBody>
      </p:sp>
      <p:grpSp>
        <p:nvGrpSpPr>
          <p:cNvPr id="11" name="CITA LARGA">
            <a:extLst>
              <a:ext uri="{FF2B5EF4-FFF2-40B4-BE49-F238E27FC236}">
                <a16:creationId xmlns:a16="http://schemas.microsoft.com/office/drawing/2014/main" id="{95C0B7C9-6DE1-47D9-92FB-0DEAA2085E40}"/>
              </a:ext>
            </a:extLst>
          </p:cNvPr>
          <p:cNvGrpSpPr/>
          <p:nvPr/>
        </p:nvGrpSpPr>
        <p:grpSpPr>
          <a:xfrm>
            <a:off x="3729291" y="1772758"/>
            <a:ext cx="1588582" cy="1797708"/>
            <a:chOff x="997740" y="1660279"/>
            <a:chExt cx="1876425" cy="2169712"/>
          </a:xfrm>
        </p:grpSpPr>
        <p:sp>
          <p:nvSpPr>
            <p:cNvPr id="12" name="Diagrama de flujo: conector 11">
              <a:extLst>
                <a:ext uri="{FF2B5EF4-FFF2-40B4-BE49-F238E27FC236}">
                  <a16:creationId xmlns:a16="http://schemas.microsoft.com/office/drawing/2014/main" id="{8DD89E58-3E47-41D5-A3D4-84DA3DD15C97}"/>
                </a:ext>
              </a:extLst>
            </p:cNvPr>
            <p:cNvSpPr/>
            <p:nvPr/>
          </p:nvSpPr>
          <p:spPr>
            <a:xfrm>
              <a:off x="997740" y="1660279"/>
              <a:ext cx="1876425" cy="1800225"/>
            </a:xfrm>
            <a:prstGeom prst="flowChartConnector">
              <a:avLst/>
            </a:prstGeom>
            <a:solidFill>
              <a:schemeClr val="bg1"/>
            </a:solidFill>
            <a:ln w="127000">
              <a:solidFill>
                <a:srgbClr val="289D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  <p:pic>
          <p:nvPicPr>
            <p:cNvPr id="13" name="Gráfico 12" descr="Abrir comillas con relleno sólido">
              <a:extLst>
                <a:ext uri="{FF2B5EF4-FFF2-40B4-BE49-F238E27FC236}">
                  <a16:creationId xmlns:a16="http://schemas.microsoft.com/office/drawing/2014/main" id="{6C06E69F-9FAF-433A-9B59-3907B246B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190618" y="1785605"/>
              <a:ext cx="1534462" cy="1513847"/>
            </a:xfrm>
            <a:prstGeom prst="rect">
              <a:avLst/>
            </a:prstGeom>
          </p:spPr>
        </p:pic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C3BE8C74-EC72-47B5-ACB2-FBB1F00DB458}"/>
                </a:ext>
              </a:extLst>
            </p:cNvPr>
            <p:cNvSpPr/>
            <p:nvPr/>
          </p:nvSpPr>
          <p:spPr>
            <a:xfrm>
              <a:off x="1850227" y="3668066"/>
              <a:ext cx="171449" cy="161925"/>
            </a:xfrm>
            <a:prstGeom prst="flowChartConnector">
              <a:avLst/>
            </a:prstGeom>
            <a:solidFill>
              <a:srgbClr val="289DC2"/>
            </a:solidFill>
            <a:ln>
              <a:solidFill>
                <a:srgbClr val="289D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sz="1350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488341-35A4-4F31-AF64-ADD3FD04ECBB}"/>
              </a:ext>
            </a:extLst>
          </p:cNvPr>
          <p:cNvSpPr txBox="1"/>
          <p:nvPr/>
        </p:nvSpPr>
        <p:spPr>
          <a:xfrm>
            <a:off x="1503203" y="3630286"/>
            <a:ext cx="6295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Se redacta el texto sin comillas, incluyendo apellido del autor(es) y año de publicación.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2ECF03-0CC7-431F-AC55-E85591E320B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8396232" y="119710"/>
            <a:ext cx="631093" cy="388259"/>
          </a:xfrm>
          <a:prstGeom prst="rect">
            <a:avLst/>
          </a:prstGeom>
        </p:spPr>
      </p:pic>
      <p:sp>
        <p:nvSpPr>
          <p:cNvPr id="9" name="Rectángulo: esquinas redondeadas 8">
            <a:hlinkClick r:id="rId6" action="ppaction://hlinksldjump"/>
            <a:extLst>
              <a:ext uri="{FF2B5EF4-FFF2-40B4-BE49-F238E27FC236}">
                <a16:creationId xmlns:a16="http://schemas.microsoft.com/office/drawing/2014/main" id="{4DA1F900-1A05-4788-A387-521D17B02E35}"/>
              </a:ext>
            </a:extLst>
          </p:cNvPr>
          <p:cNvSpPr/>
          <p:nvPr/>
        </p:nvSpPr>
        <p:spPr>
          <a:xfrm>
            <a:off x="7310139" y="6400168"/>
            <a:ext cx="804015" cy="223028"/>
          </a:xfrm>
          <a:prstGeom prst="round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 dirty="0">
                <a:latin typeface="Arial Black" panose="020B0A04020102020204" pitchFamily="34" charset="0"/>
              </a:rPr>
              <a:t>Siguiente</a:t>
            </a:r>
            <a:endParaRPr lang="es-CL" sz="900" b="1" dirty="0">
              <a:latin typeface="Arial Black" panose="020B0A040201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70E38C1-F691-4F93-B8B5-883B2735281F}"/>
              </a:ext>
            </a:extLst>
          </p:cNvPr>
          <p:cNvSpPr txBox="1"/>
          <p:nvPr/>
        </p:nvSpPr>
        <p:spPr>
          <a:xfrm>
            <a:off x="1187850" y="1008129"/>
            <a:ext cx="6808573" cy="338554"/>
          </a:xfrm>
          <a:prstGeom prst="rect">
            <a:avLst/>
          </a:prstGeom>
          <a:solidFill>
            <a:srgbClr val="289DC2"/>
          </a:solidFill>
          <a:ln>
            <a:solidFill>
              <a:srgbClr val="98BDE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Mención de las ideas de un autor con palabras de quien escribe.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8DAEF96-90B7-4256-93FF-902B95743591}"/>
              </a:ext>
            </a:extLst>
          </p:cNvPr>
          <p:cNvSpPr txBox="1"/>
          <p:nvPr/>
        </p:nvSpPr>
        <p:spPr>
          <a:xfrm>
            <a:off x="1187850" y="4631086"/>
            <a:ext cx="68085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esta dimensión, se agrega el peso del amor romántico, el cual es interiorizado como parte constitutiva de la identidad femenina tradicional e imprescindible en su normatividad, lo que facilita la subordinación de las mujeres en las relaciones de pareja (Esteban y Távora, 2008).</a:t>
            </a:r>
            <a:endParaRPr lang="es-CL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E684ED-E2E8-4D04-80D3-75925A6A1C1F}"/>
              </a:ext>
            </a:extLst>
          </p:cNvPr>
          <p:cNvSpPr txBox="1"/>
          <p:nvPr/>
        </p:nvSpPr>
        <p:spPr>
          <a:xfrm>
            <a:off x="4114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C4BBE2-2053-4208-9808-3250CE6C6B72}"/>
              </a:ext>
            </a:extLst>
          </p:cNvPr>
          <p:cNvSpPr txBox="1"/>
          <p:nvPr/>
        </p:nvSpPr>
        <p:spPr>
          <a:xfrm>
            <a:off x="3969297" y="4256346"/>
            <a:ext cx="14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Ejemplo:</a:t>
            </a:r>
          </a:p>
        </p:txBody>
      </p:sp>
    </p:spTree>
    <p:extLst>
      <p:ext uri="{BB962C8B-B14F-4D97-AF65-F5344CB8AC3E}">
        <p14:creationId xmlns:p14="http://schemas.microsoft.com/office/powerpoint/2010/main" val="208383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1779" y="1765280"/>
            <a:ext cx="8645237" cy="49379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s-ES_tradnl" dirty="0"/>
          </a:p>
          <a:p>
            <a:pPr marL="0" indent="0" algn="ctr">
              <a:buNone/>
            </a:pPr>
            <a:endParaRPr lang="es-CL" dirty="0"/>
          </a:p>
        </p:txBody>
      </p:sp>
      <p:sp>
        <p:nvSpPr>
          <p:cNvPr id="2" name="Rectángulo 1"/>
          <p:cNvSpPr/>
          <p:nvPr/>
        </p:nvSpPr>
        <p:spPr>
          <a:xfrm>
            <a:off x="1762062" y="802887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s-CL" sz="3600" b="1" dirty="0">
              <a:solidFill>
                <a:srgbClr val="5C0000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01780" y="1765280"/>
            <a:ext cx="3796147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s-ES_tradnl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 autores recurren a varias tácticas para plasmar sus ideas. Hay tres maneras de aproximarse a la escritura profesional y eficaz: (a) desarrollar el texto a partir de un borrador o esquema; (b) hacer a un lado el primer borrador para corregirlo después de algún tiempo; y (c) pedir a algún colega que critique el borrador.</a:t>
            </a:r>
          </a:p>
          <a:p>
            <a:pPr algn="just">
              <a:spcAft>
                <a:spcPts val="1000"/>
              </a:spcAft>
            </a:pPr>
            <a:endParaRPr lang="es-ES_tradnl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endParaRPr lang="es-ES_tradnl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endParaRPr lang="es-ES_tradnl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1000"/>
              </a:spcAft>
            </a:pPr>
            <a:r>
              <a:rPr lang="es-ES_tradnl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Tomado del manual de APA</a:t>
            </a:r>
            <a:endParaRPr lang="es-CL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475017" y="1809628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_tradnl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Existen diversas técnicas utilizadas por autores a la hora de expresar sus ideas, lo que permite acercarlos a la eficacia y profesionalismo de la escritura.  Dentro de los métodos empleados figuran: el desarrollo de un texto a través de un borrador; hacer primero un borrador y pasado un tiempo corregirlo y contar con la crítica de colegas con vista de mejorar o modificar dichas ideas (APA, 2010).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32849" y="1286408"/>
            <a:ext cx="3000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</a:rPr>
              <a:t>Fragmento original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4742309" y="1286408"/>
            <a:ext cx="3840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</a:rPr>
              <a:t>Fragmento parafraseado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840332-6238-40A3-9015-706ACB9FCE02}"/>
              </a:ext>
            </a:extLst>
          </p:cNvPr>
          <p:cNvSpPr txBox="1"/>
          <p:nvPr/>
        </p:nvSpPr>
        <p:spPr>
          <a:xfrm>
            <a:off x="1087038" y="46129"/>
            <a:ext cx="69348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UNA FORMA DE PARAFRASEAR MUY UTILIZADA</a:t>
            </a:r>
          </a:p>
          <a:p>
            <a:pPr algn="ctr"/>
            <a:endParaRPr lang="es-ES" sz="2000" b="1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s-ES" sz="2000" b="1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PARAFRASEO MÉCÁNICO</a:t>
            </a:r>
            <a:endParaRPr lang="es-CL" sz="2000" b="1" dirty="0">
              <a:solidFill>
                <a:schemeClr val="bg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4113272-1C09-4E6F-B3F9-3B4501288B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415924" y="57980"/>
            <a:ext cx="631093" cy="3882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C349A83-6CC7-4D5C-8669-96C825BCF78C}"/>
              </a:ext>
            </a:extLst>
          </p:cNvPr>
          <p:cNvSpPr/>
          <p:nvPr/>
        </p:nvSpPr>
        <p:spPr>
          <a:xfrm>
            <a:off x="4353368" y="1070077"/>
            <a:ext cx="45719" cy="5492582"/>
          </a:xfrm>
          <a:prstGeom prst="rect">
            <a:avLst/>
          </a:prstGeom>
          <a:solidFill>
            <a:srgbClr val="98B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: esquinas redondeadas 13">
            <a:hlinkClick r:id="" action="ppaction://noaction"/>
            <a:extLst>
              <a:ext uri="{FF2B5EF4-FFF2-40B4-BE49-F238E27FC236}">
                <a16:creationId xmlns:a16="http://schemas.microsoft.com/office/drawing/2014/main" id="{F5C34BAA-E2F2-494F-998B-1AAACDDFB65E}"/>
              </a:ext>
            </a:extLst>
          </p:cNvPr>
          <p:cNvSpPr/>
          <p:nvPr/>
        </p:nvSpPr>
        <p:spPr>
          <a:xfrm>
            <a:off x="7310139" y="6400168"/>
            <a:ext cx="804015" cy="223028"/>
          </a:xfrm>
          <a:prstGeom prst="round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 dirty="0">
                <a:latin typeface="Arial Black" panose="020B0A04020102020204" pitchFamily="34" charset="0"/>
              </a:rPr>
              <a:t>Siguiente</a:t>
            </a:r>
            <a:endParaRPr lang="es-CL" sz="9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81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DAA6ED5C-41D5-40A0-9EB3-00A62DBFCAC9}"/>
  <p:tag name="ISPRING_RESOURCE_FOLDER" val="C:\Susana Datos\Pendrive\PPT_2019\PPT_APA-2022\"/>
  <p:tag name="ISPRING_PRESENTATION_PATH" val="C:\Susana Datos\Pendrive\PPT_2019\PPT_APA-2022.pptx"/>
  <p:tag name="ISPRING_PROJECT_VERSION" val="9.32"/>
  <p:tag name="ISPRING_PROJECT_FOLDER_UPDATED" val="1"/>
  <p:tag name="ISPRING_LMS_API_VERSION" val="SCORM 1.2"/>
  <p:tag name="ISPRING_ULTRA_SCORM_COURSE_ID" val="5B02871E-D5CC-4C98-9BF8-BD1776F49DD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u0003r\u001C{6D5D9729-9B7E-481B-AEEF-FAFCC9C54DEE}&quot;,&quot;C:\\Susana Datos\\Pendrive\\PPT_2019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QUIZZES" val="0"/>
  <p:tag name="ISPRING_SCORM_PASSING_SCORE" val="100.000000"/>
  <p:tag name="ISPRING_PRESENTATION_TITLE" val="PPT_APA-2022"/>
  <p:tag name="ISPRING_FIRST_PUBLISH" val="1"/>
</p:tagLst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11832</TotalTime>
  <Words>460</Words>
  <Application>Microsoft Office PowerPoint</Application>
  <PresentationFormat>Carta (216 x 279 mm)</PresentationFormat>
  <Paragraphs>38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PPT_APA-2022</dc:title>
  <dc:creator>Usuario de Microsoft Office</dc:creator>
  <cp:lastModifiedBy>Susana Alvarez Sánchez</cp:lastModifiedBy>
  <cp:revision>551</cp:revision>
  <dcterms:created xsi:type="dcterms:W3CDTF">2018-06-26T20:44:09Z</dcterms:created>
  <dcterms:modified xsi:type="dcterms:W3CDTF">2022-08-24T19:27:58Z</dcterms:modified>
</cp:coreProperties>
</file>